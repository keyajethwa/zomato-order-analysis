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4" r:id="rId12"/>
  </p:sldIdLst>
  <p:sldSz cx="18288000" cy="10287000"/>
  <p:notesSz cx="6858000" cy="9144000"/>
  <p:embeddedFontLst>
    <p:embeddedFont>
      <p:font typeface="Poppins" panose="00000500000000000000"/>
      <p:regular r:id="rId16"/>
    </p:embeddedFont>
    <p:embeddedFont>
      <p:font typeface="Poppins Semi-Bold" panose="00000700000000000000"/>
      <p:bold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12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Relationship Id="rId3" Type="http://schemas.openxmlformats.org/officeDocument/2006/relationships/image" Target="../media/image15.png"/><Relationship Id="rId2" Type="http://schemas.openxmlformats.org/officeDocument/2006/relationships/image" Target="../media/image2.sv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jpe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jpe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jpe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jpe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jpe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jpe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image" Target="../media/image32.svg"/><Relationship Id="rId7" Type="http://schemas.openxmlformats.org/officeDocument/2006/relationships/image" Target="../media/image31.png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3" Type="http://schemas.openxmlformats.org/officeDocument/2006/relationships/image" Target="../media/image27.png"/><Relationship Id="rId2" Type="http://schemas.openxmlformats.org/officeDocument/2006/relationships/image" Target="../media/image2.svg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8.svg"/><Relationship Id="rId15" Type="http://schemas.openxmlformats.org/officeDocument/2006/relationships/image" Target="../media/image7.png"/><Relationship Id="rId14" Type="http://schemas.openxmlformats.org/officeDocument/2006/relationships/image" Target="../media/image36.svg"/><Relationship Id="rId13" Type="http://schemas.openxmlformats.org/officeDocument/2006/relationships/image" Target="../media/image35.png"/><Relationship Id="rId12" Type="http://schemas.openxmlformats.org/officeDocument/2006/relationships/image" Target="../media/image4.svg"/><Relationship Id="rId11" Type="http://schemas.openxmlformats.org/officeDocument/2006/relationships/image" Target="../media/image3.png"/><Relationship Id="rId10" Type="http://schemas.openxmlformats.org/officeDocument/2006/relationships/image" Target="../media/image34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070826" y="8905716"/>
            <a:ext cx="20429652" cy="1749036"/>
            <a:chOff x="0" y="0"/>
            <a:chExt cx="27239536" cy="2332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 flipH="1">
            <a:off x="13653902" y="-408885"/>
            <a:ext cx="5587787" cy="2875171"/>
          </a:xfrm>
          <a:custGeom>
            <a:avLst/>
            <a:gdLst/>
            <a:ahLst/>
            <a:cxnLst/>
            <a:rect l="l" t="t" r="r" b="b"/>
            <a:pathLst>
              <a:path w="5587787" h="2875171">
                <a:moveTo>
                  <a:pt x="5587787" y="0"/>
                </a:moveTo>
                <a:lnTo>
                  <a:pt x="0" y="0"/>
                </a:lnTo>
                <a:lnTo>
                  <a:pt x="0" y="2875170"/>
                </a:lnTo>
                <a:lnTo>
                  <a:pt x="5587787" y="2875170"/>
                </a:lnTo>
                <a:lnTo>
                  <a:pt x="558778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219871" y="164260"/>
            <a:ext cx="16684296" cy="9161196"/>
          </a:xfrm>
          <a:custGeom>
            <a:avLst/>
            <a:gdLst/>
            <a:ahLst/>
            <a:cxnLst/>
            <a:rect l="l" t="t" r="r" b="b"/>
            <a:pathLst>
              <a:path w="16684296" h="9161196">
                <a:moveTo>
                  <a:pt x="0" y="0"/>
                </a:moveTo>
                <a:lnTo>
                  <a:pt x="16684297" y="0"/>
                </a:lnTo>
                <a:lnTo>
                  <a:pt x="16684297" y="9161196"/>
                </a:lnTo>
                <a:lnTo>
                  <a:pt x="0" y="91611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8640332" y="652973"/>
            <a:ext cx="2528893" cy="689698"/>
          </a:xfrm>
          <a:custGeom>
            <a:avLst/>
            <a:gdLst/>
            <a:ahLst/>
            <a:cxnLst/>
            <a:rect l="l" t="t" r="r" b="b"/>
            <a:pathLst>
              <a:path w="2528893" h="689698">
                <a:moveTo>
                  <a:pt x="2528893" y="0"/>
                </a:moveTo>
                <a:lnTo>
                  <a:pt x="0" y="0"/>
                </a:lnTo>
                <a:lnTo>
                  <a:pt x="0" y="689698"/>
                </a:lnTo>
                <a:lnTo>
                  <a:pt x="2528893" y="689698"/>
                </a:lnTo>
                <a:lnTo>
                  <a:pt x="25288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004124" y="971196"/>
            <a:ext cx="2312381" cy="630649"/>
          </a:xfrm>
          <a:custGeom>
            <a:avLst/>
            <a:gdLst/>
            <a:ahLst/>
            <a:cxnLst/>
            <a:rect l="l" t="t" r="r" b="b"/>
            <a:pathLst>
              <a:path w="2312381" h="630649">
                <a:moveTo>
                  <a:pt x="0" y="0"/>
                </a:moveTo>
                <a:lnTo>
                  <a:pt x="2312381" y="0"/>
                </a:lnTo>
                <a:lnTo>
                  <a:pt x="2312381" y="630650"/>
                </a:lnTo>
                <a:lnTo>
                  <a:pt x="0" y="6306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11169225" y="1973321"/>
            <a:ext cx="2976226" cy="7578353"/>
          </a:xfrm>
          <a:custGeom>
            <a:avLst/>
            <a:gdLst/>
            <a:ahLst/>
            <a:cxnLst/>
            <a:rect l="l" t="t" r="r" b="b"/>
            <a:pathLst>
              <a:path w="2976226" h="7578353">
                <a:moveTo>
                  <a:pt x="2976226" y="0"/>
                </a:moveTo>
                <a:lnTo>
                  <a:pt x="0" y="0"/>
                </a:lnTo>
                <a:lnTo>
                  <a:pt x="0" y="7578352"/>
                </a:lnTo>
                <a:lnTo>
                  <a:pt x="2976226" y="7578352"/>
                </a:lnTo>
                <a:lnTo>
                  <a:pt x="2976226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580604" y="6891640"/>
            <a:ext cx="8588621" cy="1456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0"/>
              </a:lnSpc>
            </a:pPr>
            <a:r>
              <a:rPr lang="en-US" sz="4055">
                <a:solidFill>
                  <a:srgbClr val="242D4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Presented by: </a:t>
            </a:r>
            <a:r>
              <a:rPr lang="en-GB" altLang="en-US" sz="4055">
                <a:solidFill>
                  <a:srgbClr val="242D47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Keya Jethwa</a:t>
            </a:r>
            <a:endParaRPr lang="en-GB" altLang="en-US" sz="4055">
              <a:solidFill>
                <a:srgbClr val="242D4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  <a:p>
            <a:pPr algn="ctr">
              <a:lnSpc>
                <a:spcPts val="5680"/>
              </a:lnSpc>
            </a:pPr>
            <a:endParaRPr lang="en-GB" altLang="en-US" sz="4055" b="1">
              <a:solidFill>
                <a:srgbClr val="242D47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202815" y="2216150"/>
            <a:ext cx="8966835" cy="323977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9080"/>
              </a:lnSpc>
            </a:pPr>
            <a:r>
              <a:rPr lang="en-US" sz="5200" spc="270">
                <a:solidFill>
                  <a:srgbClr val="392515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</a:t>
            </a:r>
            <a:r>
              <a:rPr lang="en-US" sz="5200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Zomato</a:t>
            </a:r>
            <a:r>
              <a:rPr lang="en-GB" altLang="en-US" sz="5200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 Order</a:t>
            </a:r>
            <a:r>
              <a:rPr lang="en-US" sz="5200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 Analysis</a:t>
            </a:r>
            <a:endParaRPr lang="en-US" sz="5200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  <a:p>
            <a:pPr algn="ctr">
              <a:lnSpc>
                <a:spcPts val="9080"/>
              </a:lnSpc>
            </a:pPr>
            <a:endParaRPr lang="en-US" sz="5200" spc="270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  <a:p>
            <a:pPr algn="ctr">
              <a:lnSpc>
                <a:spcPts val="7280"/>
              </a:lnSpc>
            </a:pPr>
            <a:endParaRPr lang="en-US" sz="5200" spc="270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2842742" y="8537643"/>
            <a:ext cx="2685364" cy="2485182"/>
          </a:xfrm>
          <a:custGeom>
            <a:avLst/>
            <a:gdLst/>
            <a:ahLst/>
            <a:cxnLst/>
            <a:rect l="l" t="t" r="r" b="b"/>
            <a:pathLst>
              <a:path w="2685364" h="2485182">
                <a:moveTo>
                  <a:pt x="0" y="0"/>
                </a:moveTo>
                <a:lnTo>
                  <a:pt x="2685363" y="0"/>
                </a:lnTo>
                <a:lnTo>
                  <a:pt x="2685363" y="2485182"/>
                </a:lnTo>
                <a:lnTo>
                  <a:pt x="0" y="248518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683304" y="3369747"/>
            <a:ext cx="3843619" cy="5888553"/>
          </a:xfrm>
          <a:custGeom>
            <a:avLst/>
            <a:gdLst/>
            <a:ahLst/>
            <a:cxnLst/>
            <a:rect l="l" t="t" r="r" b="b"/>
            <a:pathLst>
              <a:path w="3843619" h="5888553">
                <a:moveTo>
                  <a:pt x="0" y="0"/>
                </a:moveTo>
                <a:lnTo>
                  <a:pt x="3843619" y="0"/>
                </a:lnTo>
                <a:lnTo>
                  <a:pt x="3843619" y="5888553"/>
                </a:lnTo>
                <a:lnTo>
                  <a:pt x="0" y="58885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070826" y="8905716"/>
            <a:ext cx="20429652" cy="1749036"/>
            <a:chOff x="0" y="0"/>
            <a:chExt cx="27239536" cy="2332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 rot="0">
            <a:off x="3022945" y="252787"/>
            <a:ext cx="17362349" cy="9781426"/>
            <a:chOff x="0" y="0"/>
            <a:chExt cx="23149799" cy="13041901"/>
          </a:xfrm>
        </p:grpSpPr>
        <p:grpSp>
          <p:nvGrpSpPr>
            <p:cNvPr id="6" name="Group 6"/>
            <p:cNvGrpSpPr/>
            <p:nvPr/>
          </p:nvGrpSpPr>
          <p:grpSpPr>
            <a:xfrm rot="0">
              <a:off x="0" y="0"/>
              <a:ext cx="15980417" cy="10550439"/>
              <a:chOff x="0" y="0"/>
              <a:chExt cx="3156626" cy="2084037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3156626" cy="2084037"/>
              </a:xfrm>
              <a:custGeom>
                <a:avLst/>
                <a:gdLst/>
                <a:ahLst/>
                <a:cxnLst/>
                <a:rect l="l" t="t" r="r" b="b"/>
                <a:pathLst>
                  <a:path w="3156626" h="2084037">
                    <a:moveTo>
                      <a:pt x="20024" y="0"/>
                    </a:moveTo>
                    <a:lnTo>
                      <a:pt x="3136601" y="0"/>
                    </a:lnTo>
                    <a:cubicBezTo>
                      <a:pt x="3141912" y="0"/>
                      <a:pt x="3147005" y="2110"/>
                      <a:pt x="3150761" y="5865"/>
                    </a:cubicBezTo>
                    <a:cubicBezTo>
                      <a:pt x="3154516" y="9620"/>
                      <a:pt x="3156626" y="14714"/>
                      <a:pt x="3156626" y="20024"/>
                    </a:cubicBezTo>
                    <a:lnTo>
                      <a:pt x="3156626" y="2064013"/>
                    </a:lnTo>
                    <a:cubicBezTo>
                      <a:pt x="3156626" y="2069324"/>
                      <a:pt x="3154516" y="2074417"/>
                      <a:pt x="3150761" y="2078172"/>
                    </a:cubicBezTo>
                    <a:cubicBezTo>
                      <a:pt x="3147005" y="2081928"/>
                      <a:pt x="3141912" y="2084037"/>
                      <a:pt x="3136601" y="2084037"/>
                    </a:cubicBezTo>
                    <a:lnTo>
                      <a:pt x="20024" y="2084037"/>
                    </a:lnTo>
                    <a:cubicBezTo>
                      <a:pt x="14714" y="2084037"/>
                      <a:pt x="9620" y="2081928"/>
                      <a:pt x="5865" y="2078172"/>
                    </a:cubicBezTo>
                    <a:cubicBezTo>
                      <a:pt x="2110" y="2074417"/>
                      <a:pt x="0" y="2069324"/>
                      <a:pt x="0" y="2064013"/>
                    </a:cubicBezTo>
                    <a:lnTo>
                      <a:pt x="0" y="20024"/>
                    </a:lnTo>
                    <a:cubicBezTo>
                      <a:pt x="0" y="14714"/>
                      <a:pt x="2110" y="9620"/>
                      <a:pt x="5865" y="5865"/>
                    </a:cubicBezTo>
                    <a:cubicBezTo>
                      <a:pt x="9620" y="2110"/>
                      <a:pt x="14714" y="0"/>
                      <a:pt x="20024" y="0"/>
                    </a:cubicBezTo>
                    <a:close/>
                  </a:path>
                </a:pathLst>
              </a:custGeom>
              <a:solidFill>
                <a:srgbClr val="545454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3156626" cy="212213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id="9" name="Freeform 9"/>
            <p:cNvSpPr/>
            <p:nvPr/>
          </p:nvSpPr>
          <p:spPr>
            <a:xfrm>
              <a:off x="0" y="330557"/>
              <a:ext cx="23149799" cy="12711344"/>
            </a:xfrm>
            <a:custGeom>
              <a:avLst/>
              <a:gdLst/>
              <a:ahLst/>
              <a:cxnLst/>
              <a:rect l="l" t="t" r="r" b="b"/>
              <a:pathLst>
                <a:path w="23149799" h="12711344">
                  <a:moveTo>
                    <a:pt x="0" y="0"/>
                  </a:moveTo>
                  <a:lnTo>
                    <a:pt x="23149799" y="0"/>
                  </a:lnTo>
                  <a:lnTo>
                    <a:pt x="23149799" y="12711344"/>
                  </a:lnTo>
                  <a:lnTo>
                    <a:pt x="0" y="127113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10" name="Group 10"/>
            <p:cNvGrpSpPr/>
            <p:nvPr/>
          </p:nvGrpSpPr>
          <p:grpSpPr>
            <a:xfrm rot="0">
              <a:off x="714942" y="720228"/>
              <a:ext cx="14499687" cy="7664074"/>
              <a:chOff x="0" y="0"/>
              <a:chExt cx="2284104" cy="120730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2284104" cy="1207305"/>
              </a:xfrm>
              <a:custGeom>
                <a:avLst/>
                <a:gdLst/>
                <a:ahLst/>
                <a:cxnLst/>
                <a:rect l="l" t="t" r="r" b="b"/>
                <a:pathLst>
                  <a:path w="2284104" h="1207305">
                    <a:moveTo>
                      <a:pt x="0" y="0"/>
                    </a:moveTo>
                    <a:lnTo>
                      <a:pt x="2284104" y="0"/>
                    </a:lnTo>
                    <a:lnTo>
                      <a:pt x="2284104" y="1207305"/>
                    </a:lnTo>
                    <a:lnTo>
                      <a:pt x="0" y="1207305"/>
                    </a:lnTo>
                    <a:close/>
                  </a:path>
                </a:pathLst>
              </a:custGeom>
              <a:solidFill>
                <a:srgbClr val="FEF7E4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2284104" cy="1254930"/>
              </a:xfrm>
              <a:prstGeom prst="rect">
                <a:avLst/>
              </a:prstGeom>
            </p:spPr>
            <p:txBody>
              <a:bodyPr lIns="63700" tIns="63700" rIns="63700" bIns="63700" rtlCol="0" anchor="ctr"/>
              <a:lstStyle/>
              <a:p>
                <a:pPr algn="ctr">
                  <a:lnSpc>
                    <a:spcPts val="3335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id="13" name="Group 13"/>
          <p:cNvGrpSpPr/>
          <p:nvPr/>
        </p:nvGrpSpPr>
        <p:grpSpPr>
          <a:xfrm rot="0">
            <a:off x="3718052" y="2151697"/>
            <a:ext cx="760133" cy="76013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1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801889" y="683775"/>
            <a:ext cx="8844587" cy="1063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05"/>
              </a:lnSpc>
            </a:pPr>
            <a:r>
              <a:rPr lang="en-US" sz="814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TOPICS</a:t>
            </a:r>
            <a:endParaRPr lang="en-US" sz="8145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761241" y="2085022"/>
            <a:ext cx="3719240" cy="1303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0"/>
              </a:lnSpc>
            </a:pPr>
            <a:r>
              <a:rPr lang="en-US" sz="242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Most Popular Restaurant Type </a:t>
            </a:r>
            <a:r>
              <a:rPr lang="en-GB" altLang="en-US" sz="242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by Rates.</a:t>
            </a:r>
            <a:endParaRPr lang="en-GB" altLang="en-US" sz="2425" b="1">
              <a:solidFill>
                <a:srgbClr val="3B435F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3718052" y="3789952"/>
            <a:ext cx="760133" cy="760133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2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761241" y="3657841"/>
            <a:ext cx="3717370" cy="86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0"/>
              </a:lnSpc>
            </a:pPr>
            <a:r>
              <a:rPr lang="en-US" sz="240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Customer Votes by </a:t>
            </a:r>
            <a:r>
              <a:rPr lang="en-GB" altLang="en-US" sz="240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Location</a:t>
            </a:r>
            <a:r>
              <a:rPr lang="en-US" sz="240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.</a:t>
            </a:r>
            <a:endParaRPr lang="en-US" sz="2405" b="1">
              <a:solidFill>
                <a:srgbClr val="3B435F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grpSp>
        <p:nvGrpSpPr>
          <p:cNvPr id="22" name="Group 22"/>
          <p:cNvGrpSpPr/>
          <p:nvPr/>
        </p:nvGrpSpPr>
        <p:grpSpPr>
          <a:xfrm rot="0">
            <a:off x="3772749" y="5426384"/>
            <a:ext cx="733593" cy="733593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3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761241" y="5310169"/>
            <a:ext cx="3717370" cy="870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5"/>
              </a:lnSpc>
            </a:pPr>
            <a:r>
              <a:rPr lang="en-US" sz="2460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Majority Ratings for Restaurants</a:t>
            </a:r>
            <a:endParaRPr lang="en-US" sz="2460" b="1">
              <a:solidFill>
                <a:srgbClr val="3B435F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grpSp>
        <p:nvGrpSpPr>
          <p:cNvPr id="26" name="Group 26"/>
          <p:cNvGrpSpPr/>
          <p:nvPr/>
        </p:nvGrpSpPr>
        <p:grpSpPr>
          <a:xfrm rot="0">
            <a:off x="8493261" y="2151697"/>
            <a:ext cx="760133" cy="760133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4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9750636" y="2075497"/>
            <a:ext cx="3558623" cy="135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251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Average </a:t>
            </a:r>
            <a:r>
              <a:rPr lang="en-GB" altLang="en-US" sz="251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Booked Table</a:t>
            </a:r>
            <a:r>
              <a:rPr lang="en-US" sz="251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 per Order by Cou</a:t>
            </a:r>
            <a:r>
              <a:rPr lang="en-GB" altLang="en-US" sz="251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nt.</a:t>
            </a:r>
            <a:endParaRPr lang="en-GB" altLang="en-US" sz="2515" b="1">
              <a:solidFill>
                <a:srgbClr val="3B435F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grpSp>
        <p:nvGrpSpPr>
          <p:cNvPr id="30" name="Group 30"/>
          <p:cNvGrpSpPr/>
          <p:nvPr/>
        </p:nvGrpSpPr>
        <p:grpSpPr>
          <a:xfrm rot="0">
            <a:off x="8547958" y="3844649"/>
            <a:ext cx="705436" cy="705436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5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9750636" y="3713752"/>
            <a:ext cx="3906968" cy="8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10"/>
              </a:lnSpc>
            </a:pPr>
            <a:r>
              <a:rPr lang="en-US" sz="2435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Highest Rated Order Mode: Online vs Offline</a:t>
            </a:r>
            <a:endParaRPr lang="en-US" sz="2435" b="1">
              <a:solidFill>
                <a:srgbClr val="3B435F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grpSp>
        <p:nvGrpSpPr>
          <p:cNvPr id="34" name="Group 34"/>
          <p:cNvGrpSpPr/>
          <p:nvPr/>
        </p:nvGrpSpPr>
        <p:grpSpPr>
          <a:xfrm rot="0">
            <a:off x="8602654" y="5458384"/>
            <a:ext cx="722755" cy="72275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6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750636" y="5359709"/>
            <a:ext cx="3906968" cy="87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430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Restaurant </a:t>
            </a:r>
            <a:r>
              <a:rPr lang="en-GB" altLang="en-US" sz="2430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Location </a:t>
            </a:r>
            <a:r>
              <a:rPr lang="en-US" sz="2430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 with Most Offline Orders</a:t>
            </a:r>
            <a:r>
              <a:rPr lang="en-GB" altLang="en-US" sz="2430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.</a:t>
            </a:r>
            <a:r>
              <a:rPr lang="en-US" sz="2430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 </a:t>
            </a:r>
            <a:r>
              <a:rPr lang="en-GB" altLang="en-US" sz="2430" b="1">
                <a:solidFill>
                  <a:srgbClr val="3B435F"/>
                </a:solidFill>
                <a:latin typeface="Poppins Semi-Bold" panose="00000700000000000000"/>
                <a:ea typeface="Poppins Semi-Bold" panose="00000700000000000000"/>
                <a:cs typeface="Poppins Semi-Bold" panose="00000700000000000000"/>
                <a:sym typeface="Poppins Semi-Bold" panose="00000700000000000000"/>
              </a:rPr>
              <a:t>.</a:t>
            </a:r>
            <a:endParaRPr lang="en-GB" altLang="en-US" sz="2430" b="1">
              <a:solidFill>
                <a:srgbClr val="3B435F"/>
              </a:solidFill>
              <a:latin typeface="Poppins Semi-Bold" panose="00000700000000000000"/>
              <a:ea typeface="Poppins Semi-Bold" panose="00000700000000000000"/>
              <a:cs typeface="Poppins Semi-Bold" panose="00000700000000000000"/>
              <a:sym typeface="Poppins Semi-Bold" panose="00000700000000000000"/>
            </a:endParaRPr>
          </a:p>
        </p:txBody>
      </p:sp>
      <p:sp>
        <p:nvSpPr>
          <p:cNvPr id="38" name="Freeform 38"/>
          <p:cNvSpPr/>
          <p:nvPr/>
        </p:nvSpPr>
        <p:spPr>
          <a:xfrm>
            <a:off x="-2336003" y="4227227"/>
            <a:ext cx="6137892" cy="6059773"/>
          </a:xfrm>
          <a:custGeom>
            <a:avLst/>
            <a:gdLst/>
            <a:ahLst/>
            <a:cxnLst/>
            <a:rect l="l" t="t" r="r" b="b"/>
            <a:pathLst>
              <a:path w="6137892" h="6059773">
                <a:moveTo>
                  <a:pt x="0" y="0"/>
                </a:moveTo>
                <a:lnTo>
                  <a:pt x="6137892" y="0"/>
                </a:lnTo>
                <a:lnTo>
                  <a:pt x="6137892" y="6059773"/>
                </a:lnTo>
                <a:lnTo>
                  <a:pt x="0" y="6059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3350152" y="814368"/>
            <a:ext cx="2312381" cy="630649"/>
          </a:xfrm>
          <a:custGeom>
            <a:avLst/>
            <a:gdLst/>
            <a:ahLst/>
            <a:cxnLst/>
            <a:rect l="l" t="t" r="r" b="b"/>
            <a:pathLst>
              <a:path w="2312381" h="630649">
                <a:moveTo>
                  <a:pt x="0" y="0"/>
                </a:moveTo>
                <a:lnTo>
                  <a:pt x="2312381" y="0"/>
                </a:lnTo>
                <a:lnTo>
                  <a:pt x="2312381" y="630649"/>
                </a:lnTo>
                <a:lnTo>
                  <a:pt x="0" y="6306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0747201" y="981874"/>
            <a:ext cx="3032488" cy="463144"/>
          </a:xfrm>
          <a:custGeom>
            <a:avLst/>
            <a:gdLst/>
            <a:ahLst/>
            <a:cxnLst/>
            <a:rect l="l" t="t" r="r" b="b"/>
            <a:pathLst>
              <a:path w="3032488" h="463144">
                <a:moveTo>
                  <a:pt x="0" y="0"/>
                </a:moveTo>
                <a:lnTo>
                  <a:pt x="3032488" y="0"/>
                </a:lnTo>
                <a:lnTo>
                  <a:pt x="3032488" y="463143"/>
                </a:lnTo>
                <a:lnTo>
                  <a:pt x="0" y="4631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9059" y="2063979"/>
            <a:ext cx="10662207" cy="7194162"/>
            <a:chOff x="0" y="0"/>
            <a:chExt cx="2808153" cy="1894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08153" cy="1894759"/>
            </a:xfrm>
            <a:custGeom>
              <a:avLst/>
              <a:gdLst/>
              <a:ahLst/>
              <a:cxnLst/>
              <a:rect l="l" t="t" r="r" b="b"/>
              <a:pathLst>
                <a:path w="2808153" h="1894759">
                  <a:moveTo>
                    <a:pt x="0" y="0"/>
                  </a:moveTo>
                  <a:lnTo>
                    <a:pt x="2808153" y="0"/>
                  </a:lnTo>
                  <a:lnTo>
                    <a:pt x="2808153" y="1894759"/>
                  </a:lnTo>
                  <a:lnTo>
                    <a:pt x="0" y="1894759"/>
                  </a:lnTo>
                  <a:close/>
                </a:path>
              </a:pathLst>
            </a:custGeom>
            <a:solidFill>
              <a:srgbClr val="FEF7E4"/>
            </a:solidFill>
            <a:ln w="171450" cap="sq">
              <a:solidFill>
                <a:srgbClr val="BD651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08153" cy="1951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1194024" y="9258141"/>
            <a:ext cx="20429652" cy="1749036"/>
            <a:chOff x="0" y="0"/>
            <a:chExt cx="27239536" cy="2332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748104" y="0"/>
            <a:ext cx="5303293" cy="2728785"/>
          </a:xfrm>
          <a:custGeom>
            <a:avLst/>
            <a:gdLst/>
            <a:ahLst/>
            <a:cxnLst/>
            <a:rect l="l" t="t" r="r" b="b"/>
            <a:pathLst>
              <a:path w="5303293" h="2728785">
                <a:moveTo>
                  <a:pt x="0" y="0"/>
                </a:moveTo>
                <a:lnTo>
                  <a:pt x="5303293" y="0"/>
                </a:lnTo>
                <a:lnTo>
                  <a:pt x="5303293" y="2728785"/>
                </a:lnTo>
                <a:lnTo>
                  <a:pt x="0" y="2728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05636" y="844347"/>
            <a:ext cx="8709150" cy="8598306"/>
          </a:xfrm>
          <a:custGeom>
            <a:avLst/>
            <a:gdLst/>
            <a:ahLst/>
            <a:cxnLst/>
            <a:rect l="l" t="t" r="r" b="b"/>
            <a:pathLst>
              <a:path w="8709150" h="8598306">
                <a:moveTo>
                  <a:pt x="0" y="0"/>
                </a:moveTo>
                <a:lnTo>
                  <a:pt x="8709150" y="0"/>
                </a:lnTo>
                <a:lnTo>
                  <a:pt x="8709150" y="8598306"/>
                </a:lnTo>
                <a:lnTo>
                  <a:pt x="0" y="8598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-677683" y="187009"/>
            <a:ext cx="12939588" cy="1876969"/>
            <a:chOff x="0" y="0"/>
            <a:chExt cx="280167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1670" cy="406400"/>
            </a:xfrm>
            <a:custGeom>
              <a:avLst/>
              <a:gdLst/>
              <a:ahLst/>
              <a:cxnLst/>
              <a:rect l="l" t="t" r="r" b="b"/>
              <a:pathLst>
                <a:path w="2801670" h="406400">
                  <a:moveTo>
                    <a:pt x="0" y="0"/>
                  </a:moveTo>
                  <a:lnTo>
                    <a:pt x="2598470" y="0"/>
                  </a:lnTo>
                  <a:lnTo>
                    <a:pt x="2801670" y="203200"/>
                  </a:lnTo>
                  <a:lnTo>
                    <a:pt x="259847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57150"/>
              <a:ext cx="254767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 rot="-837042" flipH="1">
            <a:off x="12961594" y="380024"/>
            <a:ext cx="2528893" cy="689698"/>
          </a:xfrm>
          <a:custGeom>
            <a:avLst/>
            <a:gdLst/>
            <a:ahLst/>
            <a:cxnLst/>
            <a:rect l="l" t="t" r="r" b="b"/>
            <a:pathLst>
              <a:path w="2528893" h="689698">
                <a:moveTo>
                  <a:pt x="2528893" y="0"/>
                </a:moveTo>
                <a:lnTo>
                  <a:pt x="0" y="0"/>
                </a:lnTo>
                <a:lnTo>
                  <a:pt x="0" y="689699"/>
                </a:lnTo>
                <a:lnTo>
                  <a:pt x="2528893" y="689699"/>
                </a:lnTo>
                <a:lnTo>
                  <a:pt x="25288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178751" y="543791"/>
            <a:ext cx="1163407" cy="11634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651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1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13147" y="629516"/>
            <a:ext cx="7092325" cy="105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Most Popular Restaurant </a:t>
            </a:r>
            <a:r>
              <a:rPr lang="en-GB" alt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by </a:t>
            </a:r>
            <a:endParaRPr lang="en-GB" altLang="en-US" sz="4255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  <a:p>
            <a:pPr algn="ctr">
              <a:lnSpc>
                <a:spcPts val="4125"/>
              </a:lnSpc>
            </a:pPr>
            <a:r>
              <a:rPr lang="en-GB" alt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Rates.</a:t>
            </a:r>
            <a:endParaRPr lang="en-GB" altLang="en-US" sz="4255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  <p:pic>
        <p:nvPicPr>
          <p:cNvPr id="20" name="Picture 19" descr="ppt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2095500"/>
            <a:ext cx="10506710" cy="7117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9059" y="2063979"/>
            <a:ext cx="9553425" cy="7194162"/>
            <a:chOff x="0" y="0"/>
            <a:chExt cx="2516129" cy="1894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16129" cy="1894759"/>
            </a:xfrm>
            <a:custGeom>
              <a:avLst/>
              <a:gdLst/>
              <a:ahLst/>
              <a:cxnLst/>
              <a:rect l="l" t="t" r="r" b="b"/>
              <a:pathLst>
                <a:path w="2516129" h="1894759">
                  <a:moveTo>
                    <a:pt x="0" y="0"/>
                  </a:moveTo>
                  <a:lnTo>
                    <a:pt x="2516129" y="0"/>
                  </a:lnTo>
                  <a:lnTo>
                    <a:pt x="2516129" y="1894759"/>
                  </a:lnTo>
                  <a:lnTo>
                    <a:pt x="0" y="1894759"/>
                  </a:lnTo>
                  <a:close/>
                </a:path>
              </a:pathLst>
            </a:custGeom>
            <a:solidFill>
              <a:srgbClr val="FEF7E4"/>
            </a:solidFill>
            <a:ln w="171450" cap="sq">
              <a:solidFill>
                <a:srgbClr val="BD651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516129" cy="1951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1194024" y="9258141"/>
            <a:ext cx="20429652" cy="1749036"/>
            <a:chOff x="0" y="0"/>
            <a:chExt cx="27239536" cy="2332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748104" y="0"/>
            <a:ext cx="5303293" cy="2728785"/>
          </a:xfrm>
          <a:custGeom>
            <a:avLst/>
            <a:gdLst/>
            <a:ahLst/>
            <a:cxnLst/>
            <a:rect l="l" t="t" r="r" b="b"/>
            <a:pathLst>
              <a:path w="5303293" h="2728785">
                <a:moveTo>
                  <a:pt x="0" y="0"/>
                </a:moveTo>
                <a:lnTo>
                  <a:pt x="5303293" y="0"/>
                </a:lnTo>
                <a:lnTo>
                  <a:pt x="5303293" y="2728785"/>
                </a:lnTo>
                <a:lnTo>
                  <a:pt x="0" y="2728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677759" y="1028700"/>
            <a:ext cx="8709150" cy="8598306"/>
          </a:xfrm>
          <a:custGeom>
            <a:avLst/>
            <a:gdLst/>
            <a:ahLst/>
            <a:cxnLst/>
            <a:rect l="l" t="t" r="r" b="b"/>
            <a:pathLst>
              <a:path w="8709150" h="8598306">
                <a:moveTo>
                  <a:pt x="0" y="0"/>
                </a:moveTo>
                <a:lnTo>
                  <a:pt x="8709150" y="0"/>
                </a:lnTo>
                <a:lnTo>
                  <a:pt x="8709150" y="8598306"/>
                </a:lnTo>
                <a:lnTo>
                  <a:pt x="0" y="8598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-677683" y="187009"/>
            <a:ext cx="12939588" cy="1876969"/>
            <a:chOff x="0" y="0"/>
            <a:chExt cx="280167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1670" cy="406400"/>
            </a:xfrm>
            <a:custGeom>
              <a:avLst/>
              <a:gdLst/>
              <a:ahLst/>
              <a:cxnLst/>
              <a:rect l="l" t="t" r="r" b="b"/>
              <a:pathLst>
                <a:path w="2801670" h="406400">
                  <a:moveTo>
                    <a:pt x="0" y="0"/>
                  </a:moveTo>
                  <a:lnTo>
                    <a:pt x="2598470" y="0"/>
                  </a:lnTo>
                  <a:lnTo>
                    <a:pt x="2801670" y="203200"/>
                  </a:lnTo>
                  <a:lnTo>
                    <a:pt x="259847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57150"/>
              <a:ext cx="254767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 rot="-837042" flipH="1">
            <a:off x="12961594" y="380024"/>
            <a:ext cx="2528893" cy="689698"/>
          </a:xfrm>
          <a:custGeom>
            <a:avLst/>
            <a:gdLst/>
            <a:ahLst/>
            <a:cxnLst/>
            <a:rect l="l" t="t" r="r" b="b"/>
            <a:pathLst>
              <a:path w="2528893" h="689698">
                <a:moveTo>
                  <a:pt x="2528893" y="0"/>
                </a:moveTo>
                <a:lnTo>
                  <a:pt x="0" y="0"/>
                </a:lnTo>
                <a:lnTo>
                  <a:pt x="0" y="689699"/>
                </a:lnTo>
                <a:lnTo>
                  <a:pt x="2528893" y="689699"/>
                </a:lnTo>
                <a:lnTo>
                  <a:pt x="25288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178751" y="543791"/>
            <a:ext cx="1163407" cy="11634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651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2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641620" y="629516"/>
            <a:ext cx="7315549" cy="545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55"/>
              </a:lnSpc>
            </a:pPr>
            <a:r>
              <a:rPr lang="en-GB" altLang="en-US" sz="4390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Top 10 Locations by Votes.</a:t>
            </a:r>
            <a:endParaRPr lang="en-GB" altLang="en-US" sz="4390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  <p:pic>
        <p:nvPicPr>
          <p:cNvPr id="21" name="Picture 20" descr="ppt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149475"/>
            <a:ext cx="9509760" cy="70586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9059" y="2063979"/>
            <a:ext cx="10908603" cy="7194162"/>
            <a:chOff x="0" y="0"/>
            <a:chExt cx="2873048" cy="18947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73048" cy="1894759"/>
            </a:xfrm>
            <a:custGeom>
              <a:avLst/>
              <a:gdLst/>
              <a:ahLst/>
              <a:cxnLst/>
              <a:rect l="l" t="t" r="r" b="b"/>
              <a:pathLst>
                <a:path w="2873048" h="1894759">
                  <a:moveTo>
                    <a:pt x="0" y="0"/>
                  </a:moveTo>
                  <a:lnTo>
                    <a:pt x="2873048" y="0"/>
                  </a:lnTo>
                  <a:lnTo>
                    <a:pt x="2873048" y="1894759"/>
                  </a:lnTo>
                  <a:lnTo>
                    <a:pt x="0" y="1894759"/>
                  </a:lnTo>
                  <a:close/>
                </a:path>
              </a:pathLst>
            </a:custGeom>
            <a:solidFill>
              <a:srgbClr val="FEF7E4"/>
            </a:solidFill>
            <a:ln w="171450" cap="sq">
              <a:solidFill>
                <a:srgbClr val="BD651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873048" cy="195190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1194024" y="9258141"/>
            <a:ext cx="20429652" cy="1749036"/>
            <a:chOff x="0" y="0"/>
            <a:chExt cx="27239536" cy="2332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748104" y="0"/>
            <a:ext cx="5303293" cy="2728785"/>
          </a:xfrm>
          <a:custGeom>
            <a:avLst/>
            <a:gdLst/>
            <a:ahLst/>
            <a:cxnLst/>
            <a:rect l="l" t="t" r="r" b="b"/>
            <a:pathLst>
              <a:path w="5303293" h="2728785">
                <a:moveTo>
                  <a:pt x="0" y="0"/>
                </a:moveTo>
                <a:lnTo>
                  <a:pt x="5303293" y="0"/>
                </a:lnTo>
                <a:lnTo>
                  <a:pt x="5303293" y="2728785"/>
                </a:lnTo>
                <a:lnTo>
                  <a:pt x="0" y="2728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05636" y="844347"/>
            <a:ext cx="8709150" cy="8598306"/>
          </a:xfrm>
          <a:custGeom>
            <a:avLst/>
            <a:gdLst/>
            <a:ahLst/>
            <a:cxnLst/>
            <a:rect l="l" t="t" r="r" b="b"/>
            <a:pathLst>
              <a:path w="8709150" h="8598306">
                <a:moveTo>
                  <a:pt x="0" y="0"/>
                </a:moveTo>
                <a:lnTo>
                  <a:pt x="8709150" y="0"/>
                </a:lnTo>
                <a:lnTo>
                  <a:pt x="8709150" y="8598306"/>
                </a:lnTo>
                <a:lnTo>
                  <a:pt x="0" y="8598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-677683" y="187009"/>
            <a:ext cx="12939588" cy="1876969"/>
            <a:chOff x="0" y="0"/>
            <a:chExt cx="280167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1670" cy="406400"/>
            </a:xfrm>
            <a:custGeom>
              <a:avLst/>
              <a:gdLst/>
              <a:ahLst/>
              <a:cxnLst/>
              <a:rect l="l" t="t" r="r" b="b"/>
              <a:pathLst>
                <a:path w="2801670" h="406400">
                  <a:moveTo>
                    <a:pt x="0" y="0"/>
                  </a:moveTo>
                  <a:lnTo>
                    <a:pt x="2598470" y="0"/>
                  </a:lnTo>
                  <a:lnTo>
                    <a:pt x="2801670" y="203200"/>
                  </a:lnTo>
                  <a:lnTo>
                    <a:pt x="259847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57150"/>
              <a:ext cx="254767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 rot="-837042" flipH="1">
            <a:off x="12961594" y="380024"/>
            <a:ext cx="2528893" cy="689698"/>
          </a:xfrm>
          <a:custGeom>
            <a:avLst/>
            <a:gdLst/>
            <a:ahLst/>
            <a:cxnLst/>
            <a:rect l="l" t="t" r="r" b="b"/>
            <a:pathLst>
              <a:path w="2528893" h="689698">
                <a:moveTo>
                  <a:pt x="2528893" y="0"/>
                </a:moveTo>
                <a:lnTo>
                  <a:pt x="0" y="0"/>
                </a:lnTo>
                <a:lnTo>
                  <a:pt x="0" y="689699"/>
                </a:lnTo>
                <a:lnTo>
                  <a:pt x="2528893" y="689699"/>
                </a:lnTo>
                <a:lnTo>
                  <a:pt x="25288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178751" y="543791"/>
            <a:ext cx="1163407" cy="11634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651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3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13147" y="629516"/>
            <a:ext cx="7092325" cy="105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Majority Ratings for Restaurants</a:t>
            </a:r>
            <a:r>
              <a:rPr lang="en-GB" alt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 by Book Table </a:t>
            </a:r>
            <a:endParaRPr lang="en-GB" altLang="en-US" sz="4255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  <p:pic>
        <p:nvPicPr>
          <p:cNvPr id="19" name="Picture 18" descr="ppt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2095500"/>
            <a:ext cx="10724515" cy="7081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29059" y="1876969"/>
            <a:ext cx="9405046" cy="7381171"/>
            <a:chOff x="0" y="0"/>
            <a:chExt cx="2477049" cy="19440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77049" cy="1944012"/>
            </a:xfrm>
            <a:custGeom>
              <a:avLst/>
              <a:gdLst/>
              <a:ahLst/>
              <a:cxnLst/>
              <a:rect l="l" t="t" r="r" b="b"/>
              <a:pathLst>
                <a:path w="2477049" h="1944012">
                  <a:moveTo>
                    <a:pt x="0" y="0"/>
                  </a:moveTo>
                  <a:lnTo>
                    <a:pt x="2477049" y="0"/>
                  </a:lnTo>
                  <a:lnTo>
                    <a:pt x="2477049" y="1944012"/>
                  </a:lnTo>
                  <a:lnTo>
                    <a:pt x="0" y="1944012"/>
                  </a:lnTo>
                  <a:close/>
                </a:path>
              </a:pathLst>
            </a:custGeom>
            <a:solidFill>
              <a:srgbClr val="FEF7E4"/>
            </a:solidFill>
            <a:ln w="171450" cap="sq">
              <a:solidFill>
                <a:srgbClr val="BD651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477049" cy="20011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1194024" y="9258141"/>
            <a:ext cx="20429652" cy="1749036"/>
            <a:chOff x="0" y="0"/>
            <a:chExt cx="27239536" cy="2332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748104" y="0"/>
            <a:ext cx="5303293" cy="2728785"/>
          </a:xfrm>
          <a:custGeom>
            <a:avLst/>
            <a:gdLst/>
            <a:ahLst/>
            <a:cxnLst/>
            <a:rect l="l" t="t" r="r" b="b"/>
            <a:pathLst>
              <a:path w="5303293" h="2728785">
                <a:moveTo>
                  <a:pt x="0" y="0"/>
                </a:moveTo>
                <a:lnTo>
                  <a:pt x="5303293" y="0"/>
                </a:lnTo>
                <a:lnTo>
                  <a:pt x="5303293" y="2728785"/>
                </a:lnTo>
                <a:lnTo>
                  <a:pt x="0" y="2728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04062" y="844347"/>
            <a:ext cx="8709150" cy="8598306"/>
          </a:xfrm>
          <a:custGeom>
            <a:avLst/>
            <a:gdLst/>
            <a:ahLst/>
            <a:cxnLst/>
            <a:rect l="l" t="t" r="r" b="b"/>
            <a:pathLst>
              <a:path w="8709150" h="8598306">
                <a:moveTo>
                  <a:pt x="0" y="0"/>
                </a:moveTo>
                <a:lnTo>
                  <a:pt x="8709150" y="0"/>
                </a:lnTo>
                <a:lnTo>
                  <a:pt x="8709150" y="8598306"/>
                </a:lnTo>
                <a:lnTo>
                  <a:pt x="0" y="8598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-677683" y="0"/>
            <a:ext cx="12939588" cy="1876969"/>
            <a:chOff x="0" y="0"/>
            <a:chExt cx="280167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1670" cy="406400"/>
            </a:xfrm>
            <a:custGeom>
              <a:avLst/>
              <a:gdLst/>
              <a:ahLst/>
              <a:cxnLst/>
              <a:rect l="l" t="t" r="r" b="b"/>
              <a:pathLst>
                <a:path w="2801670" h="406400">
                  <a:moveTo>
                    <a:pt x="0" y="0"/>
                  </a:moveTo>
                  <a:lnTo>
                    <a:pt x="2598470" y="0"/>
                  </a:lnTo>
                  <a:lnTo>
                    <a:pt x="2801670" y="203200"/>
                  </a:lnTo>
                  <a:lnTo>
                    <a:pt x="259847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57150"/>
              <a:ext cx="254767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 rot="-837042" flipH="1">
            <a:off x="12961594" y="380024"/>
            <a:ext cx="2528893" cy="689698"/>
          </a:xfrm>
          <a:custGeom>
            <a:avLst/>
            <a:gdLst/>
            <a:ahLst/>
            <a:cxnLst/>
            <a:rect l="l" t="t" r="r" b="b"/>
            <a:pathLst>
              <a:path w="2528893" h="689698">
                <a:moveTo>
                  <a:pt x="2528893" y="0"/>
                </a:moveTo>
                <a:lnTo>
                  <a:pt x="0" y="0"/>
                </a:lnTo>
                <a:lnTo>
                  <a:pt x="0" y="689699"/>
                </a:lnTo>
                <a:lnTo>
                  <a:pt x="2528893" y="689699"/>
                </a:lnTo>
                <a:lnTo>
                  <a:pt x="25288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028700" y="356781"/>
            <a:ext cx="1163407" cy="11634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651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4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614000" y="348369"/>
            <a:ext cx="7092325" cy="105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GB" alt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Most Booked Table by Count.</a:t>
            </a:r>
            <a:endParaRPr lang="en-GB" altLang="en-US" sz="4255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  <p:pic>
        <p:nvPicPr>
          <p:cNvPr id="22" name="Picture 21" descr="ppt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943100"/>
            <a:ext cx="9180830" cy="71361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849592" y="1707197"/>
            <a:ext cx="9241050" cy="7550943"/>
            <a:chOff x="0" y="0"/>
            <a:chExt cx="2433857" cy="19887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3857" cy="1988726"/>
            </a:xfrm>
            <a:custGeom>
              <a:avLst/>
              <a:gdLst/>
              <a:ahLst/>
              <a:cxnLst/>
              <a:rect l="l" t="t" r="r" b="b"/>
              <a:pathLst>
                <a:path w="2433857" h="1988726">
                  <a:moveTo>
                    <a:pt x="0" y="0"/>
                  </a:moveTo>
                  <a:lnTo>
                    <a:pt x="2433857" y="0"/>
                  </a:lnTo>
                  <a:lnTo>
                    <a:pt x="2433857" y="1988726"/>
                  </a:lnTo>
                  <a:lnTo>
                    <a:pt x="0" y="1988726"/>
                  </a:lnTo>
                  <a:close/>
                </a:path>
              </a:pathLst>
            </a:custGeom>
            <a:solidFill>
              <a:srgbClr val="FEF7E4"/>
            </a:solidFill>
            <a:ln w="171450" cap="sq">
              <a:solidFill>
                <a:srgbClr val="BD651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433857" cy="20458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1194024" y="9258141"/>
            <a:ext cx="20429652" cy="1749036"/>
            <a:chOff x="0" y="0"/>
            <a:chExt cx="27239536" cy="2332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748104" y="0"/>
            <a:ext cx="5303293" cy="2728785"/>
          </a:xfrm>
          <a:custGeom>
            <a:avLst/>
            <a:gdLst/>
            <a:ahLst/>
            <a:cxnLst/>
            <a:rect l="l" t="t" r="r" b="b"/>
            <a:pathLst>
              <a:path w="5303293" h="2728785">
                <a:moveTo>
                  <a:pt x="0" y="0"/>
                </a:moveTo>
                <a:lnTo>
                  <a:pt x="5303293" y="0"/>
                </a:lnTo>
                <a:lnTo>
                  <a:pt x="5303293" y="2728785"/>
                </a:lnTo>
                <a:lnTo>
                  <a:pt x="0" y="2728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351772" y="1028700"/>
            <a:ext cx="8709150" cy="8598306"/>
          </a:xfrm>
          <a:custGeom>
            <a:avLst/>
            <a:gdLst/>
            <a:ahLst/>
            <a:cxnLst/>
            <a:rect l="l" t="t" r="r" b="b"/>
            <a:pathLst>
              <a:path w="8709150" h="8598306">
                <a:moveTo>
                  <a:pt x="0" y="0"/>
                </a:moveTo>
                <a:lnTo>
                  <a:pt x="8709150" y="0"/>
                </a:lnTo>
                <a:lnTo>
                  <a:pt x="8709150" y="8598306"/>
                </a:lnTo>
                <a:lnTo>
                  <a:pt x="0" y="8598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-533952" y="-169772"/>
            <a:ext cx="12939588" cy="1876969"/>
            <a:chOff x="0" y="0"/>
            <a:chExt cx="280167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1670" cy="406400"/>
            </a:xfrm>
            <a:custGeom>
              <a:avLst/>
              <a:gdLst/>
              <a:ahLst/>
              <a:cxnLst/>
              <a:rect l="l" t="t" r="r" b="b"/>
              <a:pathLst>
                <a:path w="2801670" h="406400">
                  <a:moveTo>
                    <a:pt x="0" y="0"/>
                  </a:moveTo>
                  <a:lnTo>
                    <a:pt x="2598470" y="0"/>
                  </a:lnTo>
                  <a:lnTo>
                    <a:pt x="2801670" y="203200"/>
                  </a:lnTo>
                  <a:lnTo>
                    <a:pt x="259847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57150"/>
              <a:ext cx="254767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 rot="-837042" flipH="1">
            <a:off x="12961594" y="380024"/>
            <a:ext cx="2528893" cy="689698"/>
          </a:xfrm>
          <a:custGeom>
            <a:avLst/>
            <a:gdLst/>
            <a:ahLst/>
            <a:cxnLst/>
            <a:rect l="l" t="t" r="r" b="b"/>
            <a:pathLst>
              <a:path w="2528893" h="689698">
                <a:moveTo>
                  <a:pt x="2528893" y="0"/>
                </a:moveTo>
                <a:lnTo>
                  <a:pt x="0" y="0"/>
                </a:lnTo>
                <a:lnTo>
                  <a:pt x="0" y="689699"/>
                </a:lnTo>
                <a:lnTo>
                  <a:pt x="2528893" y="689699"/>
                </a:lnTo>
                <a:lnTo>
                  <a:pt x="25288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301948" y="262644"/>
            <a:ext cx="1163407" cy="11634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651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5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805884" y="348369"/>
            <a:ext cx="7092325" cy="105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GB" alt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Most Order Restaurant according to Rates. </a:t>
            </a:r>
            <a:endParaRPr lang="en-GB" altLang="en-US" sz="4255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  <p:pic>
        <p:nvPicPr>
          <p:cNvPr id="21" name="Picture 20" descr="ppt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" y="1797685"/>
            <a:ext cx="9100185" cy="7369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64375" y="1873479"/>
            <a:ext cx="9512569" cy="7384662"/>
            <a:chOff x="0" y="0"/>
            <a:chExt cx="2505368" cy="19449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5368" cy="1944931"/>
            </a:xfrm>
            <a:custGeom>
              <a:avLst/>
              <a:gdLst/>
              <a:ahLst/>
              <a:cxnLst/>
              <a:rect l="l" t="t" r="r" b="b"/>
              <a:pathLst>
                <a:path w="2505368" h="1944931">
                  <a:moveTo>
                    <a:pt x="0" y="0"/>
                  </a:moveTo>
                  <a:lnTo>
                    <a:pt x="2505368" y="0"/>
                  </a:lnTo>
                  <a:lnTo>
                    <a:pt x="2505368" y="1944931"/>
                  </a:lnTo>
                  <a:lnTo>
                    <a:pt x="0" y="1944931"/>
                  </a:lnTo>
                  <a:close/>
                </a:path>
              </a:pathLst>
            </a:custGeom>
            <a:solidFill>
              <a:srgbClr val="FEF7E4"/>
            </a:solidFill>
            <a:ln w="171450" cap="sq">
              <a:solidFill>
                <a:srgbClr val="BD651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505368" cy="2002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1194024" y="9258141"/>
            <a:ext cx="20429652" cy="1749036"/>
            <a:chOff x="0" y="0"/>
            <a:chExt cx="27239536" cy="2332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748104" y="0"/>
            <a:ext cx="5303293" cy="2728785"/>
          </a:xfrm>
          <a:custGeom>
            <a:avLst/>
            <a:gdLst/>
            <a:ahLst/>
            <a:cxnLst/>
            <a:rect l="l" t="t" r="r" b="b"/>
            <a:pathLst>
              <a:path w="5303293" h="2728785">
                <a:moveTo>
                  <a:pt x="0" y="0"/>
                </a:moveTo>
                <a:lnTo>
                  <a:pt x="5303293" y="0"/>
                </a:lnTo>
                <a:lnTo>
                  <a:pt x="5303293" y="2728785"/>
                </a:lnTo>
                <a:lnTo>
                  <a:pt x="0" y="2728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361297" y="1266657"/>
            <a:ext cx="8709150" cy="8598306"/>
          </a:xfrm>
          <a:custGeom>
            <a:avLst/>
            <a:gdLst/>
            <a:ahLst/>
            <a:cxnLst/>
            <a:rect l="l" t="t" r="r" b="b"/>
            <a:pathLst>
              <a:path w="8709150" h="8598306">
                <a:moveTo>
                  <a:pt x="0" y="0"/>
                </a:moveTo>
                <a:lnTo>
                  <a:pt x="8709150" y="0"/>
                </a:lnTo>
                <a:lnTo>
                  <a:pt x="8709150" y="8598306"/>
                </a:lnTo>
                <a:lnTo>
                  <a:pt x="0" y="8598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-677683" y="-3491"/>
            <a:ext cx="12939588" cy="1876969"/>
            <a:chOff x="0" y="0"/>
            <a:chExt cx="280167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1670" cy="406400"/>
            </a:xfrm>
            <a:custGeom>
              <a:avLst/>
              <a:gdLst/>
              <a:ahLst/>
              <a:cxnLst/>
              <a:rect l="l" t="t" r="r" b="b"/>
              <a:pathLst>
                <a:path w="2801670" h="406400">
                  <a:moveTo>
                    <a:pt x="0" y="0"/>
                  </a:moveTo>
                  <a:lnTo>
                    <a:pt x="2598470" y="0"/>
                  </a:lnTo>
                  <a:lnTo>
                    <a:pt x="2801670" y="203200"/>
                  </a:lnTo>
                  <a:lnTo>
                    <a:pt x="259847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57150"/>
              <a:ext cx="254767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 rot="-837042" flipH="1">
            <a:off x="12961594" y="380024"/>
            <a:ext cx="2528893" cy="689698"/>
          </a:xfrm>
          <a:custGeom>
            <a:avLst/>
            <a:gdLst/>
            <a:ahLst/>
            <a:cxnLst/>
            <a:rect l="l" t="t" r="r" b="b"/>
            <a:pathLst>
              <a:path w="2528893" h="689698">
                <a:moveTo>
                  <a:pt x="2528893" y="0"/>
                </a:moveTo>
                <a:lnTo>
                  <a:pt x="0" y="0"/>
                </a:lnTo>
                <a:lnTo>
                  <a:pt x="0" y="689699"/>
                </a:lnTo>
                <a:lnTo>
                  <a:pt x="2528893" y="689699"/>
                </a:lnTo>
                <a:lnTo>
                  <a:pt x="25288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240349" y="353291"/>
            <a:ext cx="1163407" cy="11634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651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6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984619" y="439016"/>
            <a:ext cx="7092325" cy="105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 </a:t>
            </a:r>
            <a:r>
              <a:rPr lang="en-GB" alt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 Restaurant Location </a:t>
            </a:r>
            <a:r>
              <a:rPr 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with Most O</a:t>
            </a:r>
            <a:r>
              <a:rPr lang="en-GB" alt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nlin</a:t>
            </a:r>
            <a:r>
              <a:rPr 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e Orders</a:t>
            </a:r>
            <a:r>
              <a:rPr lang="en-GB" alt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.</a:t>
            </a:r>
            <a:endParaRPr lang="en-GB" altLang="en-US" sz="4255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  <p:pic>
        <p:nvPicPr>
          <p:cNvPr id="20" name="Picture 19" descr="ppt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1943100"/>
            <a:ext cx="9418955" cy="72199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564375" y="1873479"/>
            <a:ext cx="9512569" cy="7384662"/>
            <a:chOff x="0" y="0"/>
            <a:chExt cx="2505368" cy="194493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5368" cy="1944931"/>
            </a:xfrm>
            <a:custGeom>
              <a:avLst/>
              <a:gdLst/>
              <a:ahLst/>
              <a:cxnLst/>
              <a:rect l="l" t="t" r="r" b="b"/>
              <a:pathLst>
                <a:path w="2505368" h="1944931">
                  <a:moveTo>
                    <a:pt x="0" y="0"/>
                  </a:moveTo>
                  <a:lnTo>
                    <a:pt x="2505368" y="0"/>
                  </a:lnTo>
                  <a:lnTo>
                    <a:pt x="2505368" y="1944931"/>
                  </a:lnTo>
                  <a:lnTo>
                    <a:pt x="0" y="1944931"/>
                  </a:lnTo>
                  <a:close/>
                </a:path>
              </a:pathLst>
            </a:custGeom>
            <a:solidFill>
              <a:srgbClr val="FEF7E4"/>
            </a:solidFill>
            <a:ln w="171450" cap="sq">
              <a:solidFill>
                <a:srgbClr val="BD651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505368" cy="20020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42900" indent="-342900" algn="l">
                <a:lnSpc>
                  <a:spcPct val="150000"/>
                </a:lnSpc>
                <a:buFont typeface="Wingdings" panose="05000000000000000000" charset="0"/>
                <a:buChar char="v"/>
              </a:pPr>
              <a:r>
                <a:rPr lang="en-US" altLang="en-GB" sz="2000" b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rPr>
                <a:t>Top locations like Koramangala and Indiranagar have the highest customer engagement.</a:t>
              </a:r>
              <a:endParaRPr lang="en-US" altLang="en-GB" sz="20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342900" algn="l">
                <a:lnSpc>
                  <a:spcPct val="150000"/>
                </a:lnSpc>
                <a:buFont typeface="Wingdings" panose="05000000000000000000" charset="0"/>
                <a:buChar char="v"/>
              </a:pPr>
              <a:endParaRPr lang="en-US" altLang="en-GB" sz="20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342900" algn="l">
                <a:lnSpc>
                  <a:spcPct val="150000"/>
                </a:lnSpc>
                <a:buFont typeface="Wingdings" panose="05000000000000000000" charset="0"/>
                <a:buChar char="v"/>
              </a:pPr>
              <a:r>
                <a:rPr lang="en-US" altLang="en-GB" sz="2000" b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rPr>
                <a:t>Online ordering boosts restaurant popularity and slightly improves ratings.</a:t>
              </a:r>
              <a:endParaRPr lang="en-US" altLang="en-GB" sz="20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342900" algn="l">
                <a:lnSpc>
                  <a:spcPct val="150000"/>
                </a:lnSpc>
                <a:buFont typeface="Wingdings" panose="05000000000000000000" charset="0"/>
                <a:buChar char="v"/>
              </a:pPr>
              <a:endParaRPr lang="en-US" altLang="en-GB" sz="20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342900" algn="l">
                <a:lnSpc>
                  <a:spcPct val="150000"/>
                </a:lnSpc>
                <a:buFont typeface="Wingdings" panose="05000000000000000000" charset="0"/>
                <a:buChar char="v"/>
              </a:pPr>
              <a:r>
                <a:rPr lang="en-US" altLang="en-GB" sz="2000" b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rPr>
                <a:t>Table booking is less common but leads to higher-rated customer experiences.</a:t>
              </a:r>
              <a:endParaRPr lang="en-US" altLang="en-GB" sz="20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342900" algn="l">
                <a:lnSpc>
                  <a:spcPct val="150000"/>
                </a:lnSpc>
                <a:buFont typeface="Wingdings" panose="05000000000000000000" charset="0"/>
                <a:buChar char="v"/>
              </a:pPr>
              <a:endParaRPr lang="en-US" altLang="en-GB" sz="2000" b="1">
                <a:solidFill>
                  <a:schemeClr val="accent2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  <a:p>
              <a:pPr marL="342900" indent="-342900" algn="l">
                <a:lnSpc>
                  <a:spcPct val="150000"/>
                </a:lnSpc>
                <a:buFont typeface="Wingdings" panose="05000000000000000000" charset="0"/>
                <a:buChar char="v"/>
              </a:pPr>
              <a:r>
                <a:rPr lang="en-US" altLang="en-GB" sz="2000" b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rPr>
                <a:t>Customers prefer convenience and premium services while choosing restaurants</a:t>
              </a:r>
              <a:r>
                <a:rPr lang="en-US" altLang="en-GB" sz="20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.</a:t>
              </a:r>
              <a:endParaRPr lang="en-US" altLang="en-GB" sz="20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-1194024" y="9258141"/>
            <a:ext cx="20429652" cy="1749036"/>
            <a:chOff x="0" y="0"/>
            <a:chExt cx="27239536" cy="233204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748104" y="0"/>
            <a:ext cx="5303293" cy="2728785"/>
          </a:xfrm>
          <a:custGeom>
            <a:avLst/>
            <a:gdLst/>
            <a:ahLst/>
            <a:cxnLst/>
            <a:rect l="l" t="t" r="r" b="b"/>
            <a:pathLst>
              <a:path w="5303293" h="2728785">
                <a:moveTo>
                  <a:pt x="0" y="0"/>
                </a:moveTo>
                <a:lnTo>
                  <a:pt x="5303293" y="0"/>
                </a:lnTo>
                <a:lnTo>
                  <a:pt x="5303293" y="2728785"/>
                </a:lnTo>
                <a:lnTo>
                  <a:pt x="0" y="2728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361297" y="1266657"/>
            <a:ext cx="8709150" cy="8598306"/>
          </a:xfrm>
          <a:custGeom>
            <a:avLst/>
            <a:gdLst/>
            <a:ahLst/>
            <a:cxnLst/>
            <a:rect l="l" t="t" r="r" b="b"/>
            <a:pathLst>
              <a:path w="8709150" h="8598306">
                <a:moveTo>
                  <a:pt x="0" y="0"/>
                </a:moveTo>
                <a:lnTo>
                  <a:pt x="8709150" y="0"/>
                </a:lnTo>
                <a:lnTo>
                  <a:pt x="8709150" y="8598306"/>
                </a:lnTo>
                <a:lnTo>
                  <a:pt x="0" y="8598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-677683" y="-3491"/>
            <a:ext cx="12939588" cy="1876969"/>
            <a:chOff x="0" y="0"/>
            <a:chExt cx="2801670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1670" cy="406400"/>
            </a:xfrm>
            <a:custGeom>
              <a:avLst/>
              <a:gdLst/>
              <a:ahLst/>
              <a:cxnLst/>
              <a:rect l="l" t="t" r="r" b="b"/>
              <a:pathLst>
                <a:path w="2801670" h="406400">
                  <a:moveTo>
                    <a:pt x="0" y="0"/>
                  </a:moveTo>
                  <a:lnTo>
                    <a:pt x="2598470" y="0"/>
                  </a:lnTo>
                  <a:lnTo>
                    <a:pt x="2801670" y="203200"/>
                  </a:lnTo>
                  <a:lnTo>
                    <a:pt x="259847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BA5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57150"/>
              <a:ext cx="2547670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</a:p>
          </p:txBody>
        </p:sp>
      </p:grpSp>
      <p:sp>
        <p:nvSpPr>
          <p:cNvPr id="13" name="Freeform 13"/>
          <p:cNvSpPr/>
          <p:nvPr/>
        </p:nvSpPr>
        <p:spPr>
          <a:xfrm rot="-837042" flipH="1">
            <a:off x="12961594" y="380024"/>
            <a:ext cx="2528893" cy="689698"/>
          </a:xfrm>
          <a:custGeom>
            <a:avLst/>
            <a:gdLst/>
            <a:ahLst/>
            <a:cxnLst/>
            <a:rect l="l" t="t" r="r" b="b"/>
            <a:pathLst>
              <a:path w="2528893" h="689698">
                <a:moveTo>
                  <a:pt x="2528893" y="0"/>
                </a:moveTo>
                <a:lnTo>
                  <a:pt x="0" y="0"/>
                </a:lnTo>
                <a:lnTo>
                  <a:pt x="0" y="689699"/>
                </a:lnTo>
                <a:lnTo>
                  <a:pt x="2528893" y="689699"/>
                </a:lnTo>
                <a:lnTo>
                  <a:pt x="252889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 rot="0">
            <a:off x="1240349" y="353291"/>
            <a:ext cx="1163407" cy="1163407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D651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0"/>
                </a:lnSpc>
              </a:pPr>
              <a:r>
                <a:rPr lang="en-US" sz="2300">
                  <a:solidFill>
                    <a:srgbClr val="000000"/>
                  </a:solidFill>
                  <a:latin typeface="Poetsen" panose="020108030300000D0203"/>
                  <a:ea typeface="Poetsen" panose="020108030300000D0203"/>
                  <a:cs typeface="Poetsen" panose="020108030300000D0203"/>
                  <a:sym typeface="Poetsen" panose="020108030300000D0203"/>
                </a:rPr>
                <a:t>6</a:t>
              </a:r>
              <a:endParaRPr lang="en-US" sz="2300">
                <a:solidFill>
                  <a:srgbClr val="000000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endParaRP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984619" y="439016"/>
            <a:ext cx="7092325" cy="52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25"/>
              </a:lnSpc>
            </a:pPr>
            <a:r>
              <a:rPr 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 </a:t>
            </a:r>
            <a:r>
              <a:rPr lang="en-GB" altLang="en-US" sz="4255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 Conclusion.</a:t>
            </a:r>
            <a:endParaRPr lang="en-GB" altLang="en-US" sz="4255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-1070826" y="9171641"/>
            <a:ext cx="20429652" cy="1749036"/>
            <a:chOff x="0" y="0"/>
            <a:chExt cx="27239536" cy="23320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3546252" y="0"/>
              <a:ext cx="13693284" cy="2332049"/>
            </a:xfrm>
            <a:custGeom>
              <a:avLst/>
              <a:gdLst/>
              <a:ahLst/>
              <a:cxnLst/>
              <a:rect l="l" t="t" r="r" b="b"/>
              <a:pathLst>
                <a:path w="13693284" h="2332049">
                  <a:moveTo>
                    <a:pt x="0" y="0"/>
                  </a:moveTo>
                  <a:lnTo>
                    <a:pt x="13693284" y="0"/>
                  </a:lnTo>
                  <a:lnTo>
                    <a:pt x="13693284" y="2332049"/>
                  </a:lnTo>
                  <a:lnTo>
                    <a:pt x="0" y="23320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 l="-895" t="-18663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4452951" y="3804344"/>
            <a:ext cx="9932701" cy="5453956"/>
          </a:xfrm>
          <a:custGeom>
            <a:avLst/>
            <a:gdLst/>
            <a:ahLst/>
            <a:cxnLst/>
            <a:rect l="l" t="t" r="r" b="b"/>
            <a:pathLst>
              <a:path w="9932701" h="5453956">
                <a:moveTo>
                  <a:pt x="0" y="0"/>
                </a:moveTo>
                <a:lnTo>
                  <a:pt x="9932701" y="0"/>
                </a:lnTo>
                <a:lnTo>
                  <a:pt x="9932701" y="5453956"/>
                </a:lnTo>
                <a:lnTo>
                  <a:pt x="0" y="54539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435319" y="4651376"/>
            <a:ext cx="2292240" cy="4944048"/>
          </a:xfrm>
          <a:custGeom>
            <a:avLst/>
            <a:gdLst/>
            <a:ahLst/>
            <a:cxnLst/>
            <a:rect l="l" t="t" r="r" b="b"/>
            <a:pathLst>
              <a:path w="2292240" h="4944048">
                <a:moveTo>
                  <a:pt x="0" y="0"/>
                </a:moveTo>
                <a:lnTo>
                  <a:pt x="2292241" y="0"/>
                </a:lnTo>
                <a:lnTo>
                  <a:pt x="2292241" y="4944048"/>
                </a:lnTo>
                <a:lnTo>
                  <a:pt x="0" y="49440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152947" y="4651376"/>
            <a:ext cx="3189977" cy="5300566"/>
          </a:xfrm>
          <a:custGeom>
            <a:avLst/>
            <a:gdLst/>
            <a:ahLst/>
            <a:cxnLst/>
            <a:rect l="l" t="t" r="r" b="b"/>
            <a:pathLst>
              <a:path w="3189977" h="5300566">
                <a:moveTo>
                  <a:pt x="0" y="0"/>
                </a:moveTo>
                <a:lnTo>
                  <a:pt x="3189977" y="0"/>
                </a:lnTo>
                <a:lnTo>
                  <a:pt x="3189977" y="5300566"/>
                </a:lnTo>
                <a:lnTo>
                  <a:pt x="0" y="530056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093544" y="4396422"/>
            <a:ext cx="4194456" cy="5492741"/>
          </a:xfrm>
          <a:custGeom>
            <a:avLst/>
            <a:gdLst/>
            <a:ahLst/>
            <a:cxnLst/>
            <a:rect l="l" t="t" r="r" b="b"/>
            <a:pathLst>
              <a:path w="4194456" h="5492741">
                <a:moveTo>
                  <a:pt x="0" y="0"/>
                </a:moveTo>
                <a:lnTo>
                  <a:pt x="4194456" y="0"/>
                </a:lnTo>
                <a:lnTo>
                  <a:pt x="4194456" y="5492741"/>
                </a:lnTo>
                <a:lnTo>
                  <a:pt x="0" y="54927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1841303" y="209281"/>
            <a:ext cx="5200640" cy="2675966"/>
          </a:xfrm>
          <a:custGeom>
            <a:avLst/>
            <a:gdLst/>
            <a:ahLst/>
            <a:cxnLst/>
            <a:rect l="l" t="t" r="r" b="b"/>
            <a:pathLst>
              <a:path w="5200640" h="2675966">
                <a:moveTo>
                  <a:pt x="0" y="0"/>
                </a:moveTo>
                <a:lnTo>
                  <a:pt x="5200641" y="0"/>
                </a:lnTo>
                <a:lnTo>
                  <a:pt x="5200641" y="2675966"/>
                </a:lnTo>
                <a:lnTo>
                  <a:pt x="0" y="26759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223075" y="0"/>
            <a:ext cx="4382593" cy="2860638"/>
          </a:xfrm>
          <a:custGeom>
            <a:avLst/>
            <a:gdLst/>
            <a:ahLst/>
            <a:cxnLst/>
            <a:rect l="l" t="t" r="r" b="b"/>
            <a:pathLst>
              <a:path w="4382593" h="2860638">
                <a:moveTo>
                  <a:pt x="0" y="0"/>
                </a:moveTo>
                <a:lnTo>
                  <a:pt x="4382593" y="0"/>
                </a:lnTo>
                <a:lnTo>
                  <a:pt x="4382593" y="2860638"/>
                </a:lnTo>
                <a:lnTo>
                  <a:pt x="0" y="28606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flipH="1">
            <a:off x="614862" y="209281"/>
            <a:ext cx="2528893" cy="689698"/>
          </a:xfrm>
          <a:custGeom>
            <a:avLst/>
            <a:gdLst/>
            <a:ahLst/>
            <a:cxnLst/>
            <a:rect l="l" t="t" r="r" b="b"/>
            <a:pathLst>
              <a:path w="2528893" h="689698">
                <a:moveTo>
                  <a:pt x="2528893" y="0"/>
                </a:moveTo>
                <a:lnTo>
                  <a:pt x="0" y="0"/>
                </a:lnTo>
                <a:lnTo>
                  <a:pt x="0" y="689699"/>
                </a:lnTo>
                <a:lnTo>
                  <a:pt x="2528893" y="689699"/>
                </a:lnTo>
                <a:lnTo>
                  <a:pt x="2528893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723106" y="209281"/>
            <a:ext cx="2312381" cy="630649"/>
          </a:xfrm>
          <a:custGeom>
            <a:avLst/>
            <a:gdLst/>
            <a:ahLst/>
            <a:cxnLst/>
            <a:rect l="l" t="t" r="r" b="b"/>
            <a:pathLst>
              <a:path w="2312381" h="630649">
                <a:moveTo>
                  <a:pt x="0" y="0"/>
                </a:moveTo>
                <a:lnTo>
                  <a:pt x="2312381" y="0"/>
                </a:lnTo>
                <a:lnTo>
                  <a:pt x="2312381" y="630650"/>
                </a:lnTo>
                <a:lnTo>
                  <a:pt x="0" y="630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74368" y="2113909"/>
            <a:ext cx="15252501" cy="1180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5"/>
              </a:lnSpc>
            </a:pPr>
            <a:r>
              <a:rPr lang="en-US" sz="9110">
                <a:solidFill>
                  <a:srgbClr val="3B435F"/>
                </a:solidFill>
                <a:latin typeface="Poetsen" panose="020108030300000D0203"/>
                <a:ea typeface="Poetsen" panose="020108030300000D0203"/>
                <a:cs typeface="Poetsen" panose="020108030300000D0203"/>
                <a:sym typeface="Poetsen" panose="020108030300000D0203"/>
              </a:rPr>
              <a:t>Thank you for Your Time!</a:t>
            </a:r>
            <a:endParaRPr lang="en-US" sz="9110">
              <a:solidFill>
                <a:srgbClr val="3B435F"/>
              </a:solidFill>
              <a:latin typeface="Poetsen" panose="020108030300000D0203"/>
              <a:ea typeface="Poetsen" panose="020108030300000D0203"/>
              <a:cs typeface="Poetsen" panose="020108030300000D0203"/>
              <a:sym typeface="Poetsen" panose="020108030300000D0203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6509322" y="-1674244"/>
            <a:ext cx="4382593" cy="2860638"/>
          </a:xfrm>
          <a:custGeom>
            <a:avLst/>
            <a:gdLst/>
            <a:ahLst/>
            <a:cxnLst/>
            <a:rect l="l" t="t" r="r" b="b"/>
            <a:pathLst>
              <a:path w="4382593" h="2860638">
                <a:moveTo>
                  <a:pt x="0" y="0"/>
                </a:moveTo>
                <a:lnTo>
                  <a:pt x="4382593" y="0"/>
                </a:lnTo>
                <a:lnTo>
                  <a:pt x="4382593" y="2860638"/>
                </a:lnTo>
                <a:lnTo>
                  <a:pt x="0" y="286063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8406842" y="1028700"/>
            <a:ext cx="2312381" cy="630649"/>
          </a:xfrm>
          <a:custGeom>
            <a:avLst/>
            <a:gdLst/>
            <a:ahLst/>
            <a:cxnLst/>
            <a:rect l="l" t="t" r="r" b="b"/>
            <a:pathLst>
              <a:path w="2312381" h="630649">
                <a:moveTo>
                  <a:pt x="0" y="0"/>
                </a:moveTo>
                <a:lnTo>
                  <a:pt x="2312381" y="0"/>
                </a:lnTo>
                <a:lnTo>
                  <a:pt x="2312381" y="630649"/>
                </a:lnTo>
                <a:lnTo>
                  <a:pt x="0" y="63064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864</Words>
  <Application>WPS Slides</Application>
  <PresentationFormat>On-screen Show (4:3)</PresentationFormat>
  <Paragraphs>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Poppins</vt:lpstr>
      <vt:lpstr>Poetsen</vt:lpstr>
      <vt:lpstr>Kozuka Mincho Pro B</vt:lpstr>
      <vt:lpstr>Poppins Semi-Bold</vt:lpstr>
      <vt:lpstr>Microsoft YaHei</vt:lpstr>
      <vt:lpstr>Arial Unicode MS</vt:lpstr>
      <vt:lpstr>Calibri</vt:lpstr>
      <vt:lpstr>Times New Roman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Zomato Data Analysis</dc:title>
  <dc:creator/>
  <cp:lastModifiedBy>Keya Jethwa</cp:lastModifiedBy>
  <cp:revision>6</cp:revision>
  <dcterms:created xsi:type="dcterms:W3CDTF">2006-08-16T00:00:00Z</dcterms:created>
  <dcterms:modified xsi:type="dcterms:W3CDTF">2025-04-27T10:59:08Z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0FF6706DB6B449F9A24DFC85723A2F11_13</vt:lpwstr>
  </property>
  <property fmtid="{D5CDD505-2E9C-101B-9397-08002B2CF9AE}" pid="3" name="KSOProductBuildVer">
    <vt:lpwstr>2057-12.2.0.20795</vt:lpwstr>
  </property>
</Properties>
</file>